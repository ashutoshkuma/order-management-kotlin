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YAML-DRIVEN TEMPORAL</a:t>
            </a:r>
            <a:br/>
            <a:r>
              <a:t>ORDER MANAGEMENT</a:t>
            </a:r>
          </a:p>
          <a:p>
            <a:pPr>
              <a:spcBef>
                <a:spcPts val="1500"/>
              </a:spcBef>
              <a:defRPr sz="2000">
                <a:solidFill>
                  <a:srgbClr val="14B8A6"/>
                </a:solidFill>
                <a:latin typeface="Arial"/>
              </a:defRPr>
            </a:pPr>
            <a:r>
              <a:t>Orchestrating Resilient, Decoupled Distributed Transactions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Product &amp;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Distributed Saga Challenge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Why Traditional Microservices Architecture Breaks 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THE PROBLEM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Fragile Coordination: Hard to coordinate inventory, payment, and shipping reliably.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Orphaned States: A failure mid-flow leaves inventory locked or payments unrefunded.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Complexity Overload: Developer teams write manual retry loops and custom compensation mechanisms.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14B8A6"/>
                </a:solidFill>
              </a:defRPr>
            </a:pPr>
            <a:r>
              <a:t>THE IMPACT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Poor Customer Experience: Orders get stuck or failed without refund details.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Operational Nightmares: Customer support spends hours matching logs across microservices.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• Slow Feature Shipping: Modifying business flows requires massive code refactoring and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Solution: Temporal Orchestration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Decoupling State Management from Microservice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Reliable Workflows</a:t>
            </a:r>
          </a:p>
          <a:p>
            <a:pPr>
              <a:spcBef>
                <a:spcPts val="1500"/>
              </a:spcBef>
              <a:defRPr sz="1400">
                <a:solidFill>
                  <a:srgbClr val="F8FAFC"/>
                </a:solidFill>
              </a:defRPr>
            </a:pPr>
            <a:r>
              <a:t>Temporal guarantees the execution of workflows to the end, even in the event of hardware failures or service outages. State is durable and persistent.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4B8A6"/>
                </a:solidFill>
              </a:defRPr>
            </a:pPr>
            <a:r>
              <a:t>Dynamic Sagas</a:t>
            </a:r>
          </a:p>
          <a:p>
            <a:pPr>
              <a:spcBef>
                <a:spcPts val="1500"/>
              </a:spcBef>
              <a:defRPr sz="1400">
                <a:solidFill>
                  <a:srgbClr val="F8FAFC"/>
                </a:solidFill>
              </a:defRPr>
            </a:pPr>
            <a:r>
              <a:t>Provides built-in mechanism for compensation. If step X fails, the engine triggers previous steps' rollback logic (refunds, releases) in exact reverse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High Observability</a:t>
            </a:r>
          </a:p>
          <a:p>
            <a:pPr>
              <a:spcBef>
                <a:spcPts val="1500"/>
              </a:spcBef>
              <a:defRPr sz="1400">
                <a:solidFill>
                  <a:srgbClr val="F8FAFC"/>
                </a:solidFill>
              </a:defRPr>
            </a:pPr>
            <a:r>
              <a:t>Complete trace of every step, retry count, and delay can be visually audited in the Temporal Web UI. No more parsing endless log messages.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Core Use Case: Order Fulfillment Saga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Executing the complete transaction with automatic rollback safety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210312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92608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14B8A6"/>
                          </a:solidFill>
                        </a:defRPr>
                      </a:pPr>
                      <a:r>
                        <a:t>Workflow Step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14B8A6"/>
                          </a:solidFill>
                        </a:defRPr>
                      </a:pPr>
                      <a:r>
                        <a:t>Target Activity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14B8A6"/>
                          </a:solidFill>
                        </a:defRPr>
                      </a:pPr>
                      <a:r>
                        <a:t>Successful 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14B8A6"/>
                          </a:solidFill>
                        </a:defRPr>
                      </a:pPr>
                      <a:r>
                        <a:t>Rollback / Compensation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Reserve Inventory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InventoryActivity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Reserve requested quantities of items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Release reservation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Process Payment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PaymentActivity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Charge user's credit card/wallet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Refund original transaction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Create Shipment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ShippingActivity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Generate shipping label &amp; tracking number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Cancel label &amp; shipping request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Send Notifications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NotificationActivity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Send confirmation &amp; shipping info alerts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(None needed - terminal step)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Leap: Hardcoded vs. Dynamic Configuration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Moving business logic out of the codebase and into YAML config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BEFORE: HARDCODED LOGIC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Inflexible Flows: Execution sequence was hard-coded in Java (reserve -&gt; pay -&gt; ship).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Recompilation Required: Change in a step timeout, retry strategy, or workflow order required a full code change, review, and redeployment.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Manual Sagas: Compensation checks and custom exceptions were hardcoded per step.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AFTER: DYNAMIC YAML ENGINE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Declarative Configuration: Steps, order of execution, timeouts, and rollbacks are defined in a simple YAML config file.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Zero Re-deploys: Modify step execution sequence, timeouts, or retries at runtime without modifying a single line of Java code.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Automatic Rollbacks: The engine dynamically builds a history stack and calls correct compensations from the configuration.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Decoupled Logic: YAML Configuration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Standardized and clean YAML blueprint for our business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698480" cy="39319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workflow-config.yml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Courier New"/>
              </a:defRPr>
            </a:pPr>
            <a:r>
              <a:t>name: "StandardOrderFulfillment"</a:t>
            </a:r>
            <a:br/>
            <a:r>
              <a:t>steps:</a:t>
            </a:r>
            <a:br/>
            <a:r>
              <a:t>  - name: "RESERVE_INVENTORY"</a:t>
            </a:r>
            <a:br/>
            <a:r>
              <a:t>    timeoutSeconds: 30</a:t>
            </a:r>
            <a:br/>
            <a:r>
              <a:t>    maxAttempts: 3</a:t>
            </a:r>
            <a:br/>
            <a:r>
              <a:t>    compensationActivity: "InventoryActivity"</a:t>
            </a:r>
            <a:br/>
            <a:r>
              <a:t>    compensationMethod: "releaseInventory"</a:t>
            </a:r>
            <a:br/>
            <a:br/>
            <a:r>
              <a:t>  - name: "PROCESS_PAYMENT"</a:t>
            </a:r>
            <a:br/>
            <a:r>
              <a:t>    timeoutSeconds: 60</a:t>
            </a:r>
            <a:br/>
            <a:r>
              <a:t>    maxAttempts: 2</a:t>
            </a:r>
            <a:br/>
            <a:r>
              <a:t>    compensationActivity: "PaymentActivity"</a:t>
            </a:r>
            <a:br/>
            <a:r>
              <a:t>    compensationMethod: "refundPayment"</a:t>
            </a:r>
            <a:br/>
            <a:br/>
            <a:r>
              <a:t>  - name: "CREATE_SHIPMENT"</a:t>
            </a:r>
            <a:br/>
            <a:r>
              <a:t>    timeoutSeconds: 30</a:t>
            </a:r>
            <a:br/>
            <a:r>
              <a:t>    maxAttempts: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How the Engine Works Under the Hood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Combining Java 21 Records, Jackson, and Temporal stubs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1. Parsing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YamlWorkflowLoader reads the YAML config, mapping it directly into immutable Java 21 Record classes for zero-overhead validation and parsing.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2. Loop Execution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The workflow iterates through the parsed configuration list. Temporal ActivityOptions (timeouts, retries) are dynamically injected per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3. Stack Rollbacks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Successful steps are pushed onto a LIFO stack. Upon any failure, the stack is popped, and compensation methods are dynamically executed.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Testing &amp; Resiliency Verification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Ensuring dynamic logic operates reliably in all runtime failure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14B8A6"/>
                </a:solidFill>
              </a:defRPr>
            </a:pPr>
            <a:r>
              <a:t>IN-MEMORY TEST ENVIRONMENT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Isolated Tests: OrderFulfillmentWorkflowTest utilizes TestWorkflowEnvironment for virtual time testing.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Simulated Outages: Test doubles mock failures (e.g. CardDeclinedException, slow latency) to verify compensating rollbacks.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Fast Executions: Fast-forwards time automatically (5-minute timeouts resolved in milliseconds).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LIVE INTEGRATION TESTS (IT)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Live Connection: OrderFulfillmentLiveWorkflowIT connects to a live running local Temporal instance.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Visual Auditing: Developer can physically inspect the step-by-step saga trace live inside the Temporal Web UI.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Production Readiness: Validates correct YAML deserialization against real gRPC server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Business Outcomes &amp; Next Steps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  <a:latin typeface="Arial"/>
              </a:defRPr>
            </a:pPr>
            <a:r>
              <a:t>Strategic advantages of declarative transaction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14B8A6"/>
                </a:solidFill>
              </a:defRPr>
            </a:pPr>
            <a:r>
              <a:t>VALUE DELIVERED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Faster Time-to-Market: Business flows adjusted instantly via configuration changes.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Decreased Operational Overhead: Auto-recovery of partial transactions lowers customer support tickets.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Developer Velocity: Standardized, dynamic Saga logic removes boilerplate code from codebase.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2103120"/>
            <a:ext cx="512064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ROADMAP &amp; EVOLUTION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A/B Testing: Support loading different YAML profiles based on customer segments.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UI Configurator: Build a low-code canvas interface that generates the workflow-config.yml directly.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Observability dashboard: Extend Grafana panels to count step-level latency based on YAML config.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