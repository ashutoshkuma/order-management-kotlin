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5" r:id="rId16"/>
    <p:sldId id="266" r:id="rId17"/>
    <p:sldId id="267" r:id="rId18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
<Relationship Id="rId17" Type="http://schemas.openxmlformats.org/officeDocument/2006/relationships/slide" Target="slides/slide11.xml"/>
<Relationship Id="rId18" Type="http://schemas.openxmlformats.org/officeDocument/2006/relationships/slide" Target="slides/slide12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Arial"/>
              </a:defRPr>
            </a:pPr>
            <a:r>
              <a:t>YAML-DRIVEN TEMPORAL</a:t>
            </a:r>
            <a:br/>
            <a:r>
              <a:t>ORDER MANAGEMENT</a:t>
            </a:r>
          </a:p>
          <a:p>
            <a:pPr>
              <a:spcBef>
                <a:spcPts val="1500"/>
              </a:spcBef>
              <a:defRPr sz="2000">
                <a:solidFill>
                  <a:srgbClr val="14B8A6"/>
                </a:solidFill>
                <a:latin typeface="Arial"/>
              </a:defRPr>
            </a:pPr>
            <a:r>
              <a:t>Orchestrating Resilient, Decoupled Distributed Transactions</a:t>
            </a:r>
          </a:p>
          <a:p>
            <a:pPr>
              <a:spcBef>
                <a:spcPts val="40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Product &amp; 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Distributed Saga Challenge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Why Traditional Microservices Architecture Breaks 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51206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THE PROBLEM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Fragile Coordination: Hard to coordinate inventory, payment, and shipping reliably.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Orphaned States: A failure mid-flow leaves inventory locked or payments unrefunded.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Complexity Overload: Developer teams write manual retry loops and custom compensation mechanisms.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2103120"/>
            <a:ext cx="51206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14B8A6"/>
                </a:solidFill>
              </a:defRPr>
            </a:pPr>
            <a:r>
              <a:t>THE IMPACT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Poor Customer Experience: Orders get stuck or failed without refund details.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Operational Nightmares: Customer support spends hours matching logs across microservices.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Slow Feature Shipping: Modifying business flows requires massive code refactoring and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Solution: Temporal Orchestration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Decoupling State Management from Microservice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32918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Reliable Workflows</a:t>
            </a:r>
          </a:p>
          <a:p>
            <a:pPr>
              <a:spcBef>
                <a:spcPts val="1500"/>
              </a:spcBef>
              <a:defRPr sz="1400">
                <a:solidFill>
                  <a:srgbClr val="F8FAFC"/>
                </a:solidFill>
              </a:defRPr>
            </a:pPr>
            <a:r>
              <a:t>Temporal guarantees the execution of workflows to the end, even in the event of hardware failures or service outages. State is durable and persistent.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2103120"/>
            <a:ext cx="32918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14B8A6"/>
                </a:solidFill>
              </a:defRPr>
            </a:pPr>
            <a:r>
              <a:t>Dynamic Sagas</a:t>
            </a:r>
          </a:p>
          <a:p>
            <a:pPr>
              <a:spcBef>
                <a:spcPts val="1500"/>
              </a:spcBef>
              <a:defRPr sz="1400">
                <a:solidFill>
                  <a:srgbClr val="F8FAFC"/>
                </a:solidFill>
              </a:defRPr>
            </a:pPr>
            <a:r>
              <a:t>Provides built-in mechanism for compensation. If step X fails, the engine triggers previous steps' rollback logic (refunds, releases) in exact reverse 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2103120"/>
            <a:ext cx="32918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High Observability</a:t>
            </a:r>
          </a:p>
          <a:p>
            <a:pPr>
              <a:spcBef>
                <a:spcPts val="1500"/>
              </a:spcBef>
              <a:defRPr sz="1400">
                <a:solidFill>
                  <a:srgbClr val="F8FAFC"/>
                </a:solidFill>
              </a:defRPr>
            </a:pPr>
            <a:r>
              <a:t>Complete trace of every step, retry count, and delay can be visually audited in the Temporal Web UI. No more parsing endless log messages.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Core Use Case: Order Fulfillment Saga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Executing the complete transaction with automatic rollback safety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210312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92608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14B8A6"/>
                          </a:solidFill>
                        </a:defRPr>
                      </a:pPr>
                      <a:r>
                        <a:t>Workflow Step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14B8A6"/>
                          </a:solidFill>
                        </a:defRPr>
                      </a:pPr>
                      <a:r>
                        <a:t>Target Activity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14B8A6"/>
                          </a:solidFill>
                        </a:defRPr>
                      </a:pPr>
                      <a:r>
                        <a:t>Successful 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14B8A6"/>
                          </a:solidFill>
                        </a:defRPr>
                      </a:pPr>
                      <a:r>
                        <a:t>Rollback / Compensation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Reserve Inventory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InventoryActivity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Reserve requested quantities of items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Release reservation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Process Payment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PaymentActivity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Charge user's credit card/wallet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Refund original transaction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Create Shipment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ShippingActivity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Generate shipping label &amp; tracking number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(None — no side effect to undo)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Send Notifications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NotificationActivity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Send confirmation &amp; shipping info alerts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(None needed - terminal step)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Leap: Hardcoded vs. Dynamic Configuration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Moving business logic out of the codebase and into YAML config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51206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BEFORE: HARDCODED LOGIC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Inflexible Flows: Execution sequence was hard-coded in Java (reserve -&gt; pay -&gt; ship).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Recompilation Required: Change in a step timeout, retry strategy, or workflow order required a full code change, review, and redeployment.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Manual Sagas: Compensation checks and custom exceptions were hardcoded per step.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2103120"/>
            <a:ext cx="51206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AFTER: DYNAMIC YAML ENGINE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Declarative Configuration: Steps, order of execution, timeouts, and rollbacks are defined in a simple YAML config file.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Zero Re-deploys: Modify step execution sequence, timeouts, or retries at runtime without modifying a single line of Java code.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Automatic Rollbacks: The engine dynamically builds a history stack and calls correct compensations from the configuration.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Decoupled Logic: YAML Configuration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Standardized and clean YAML blueprint for our business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0698480" cy="39319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400" b="1">
                <a:solidFill>
                  <a:srgbClr val="14B8A6"/>
                </a:solidFill>
              </a:defRPr>
            </a:pPr>
            <a:r>
              <a:t>workflow-config.yml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Courier New"/>
              </a:defRPr>
            </a:pPr>
            <a:r>
              <a:t>name: "StandardOrderFulfillment"</a:t>
            </a:r>
            <a:br/>
            <a:r>
              <a:t>steps:</a:t>
            </a:r>
            <a:br/>
            <a:r>
              <a:t>  - name: "RESERVE_INVENTORY"</a:t>
            </a:r>
            <a:br/>
            <a:r>
              <a:t>    timeoutSeconds: 30</a:t>
            </a:r>
            <a:br/>
            <a:r>
              <a:t>    maxAttempts: 3</a:t>
            </a:r>
            <a:br/>
            <a:r>
              <a:t>    compensationActivity: "InventoryActivity"</a:t>
            </a:r>
            <a:br/>
            <a:r>
              <a:t>    compensationMethod: "releaseInventory"</a:t>
            </a:r>
            <a:br/>
            <a:br/>
            <a:r>
              <a:t>  - name: "PROCESS_PAYMENT"</a:t>
            </a:r>
            <a:br/>
            <a:r>
              <a:t>    timeoutSeconds: 60</a:t>
            </a:r>
            <a:br/>
            <a:r>
              <a:t>    maxAttempts: 2</a:t>
            </a:r>
            <a:br/>
            <a:r>
              <a:t>    compensationActivity: "PaymentActivity"</a:t>
            </a:r>
            <a:br/>
            <a:r>
              <a:t>    compensationMethod: "refundPayment"</a:t>
            </a:r>
            <a:br/>
            <a:br/>
            <a:r>
              <a:t>  - name: "CREATE_SHIPMENT"</a:t>
            </a:r>
            <a:br/>
            <a:r>
              <a:t>    timeoutSeconds: 30</a:t>
            </a:r>
            <a:br/>
            <a:r>
              <a:t>    maxAttempts: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How the Engine Works Under the Hood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Combining Java 21 Records, Jackson, and Temporal stubs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32918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1. Parsing</a:t>
            </a:r>
          </a:p>
          <a:p>
            <a:pPr>
              <a:spcBef>
                <a:spcPts val="1500"/>
              </a:spcBef>
              <a:defRPr sz="1300">
                <a:solidFill>
                  <a:srgbClr val="F8FAFC"/>
                </a:solidFill>
              </a:defRPr>
            </a:pPr>
            <a:r>
              <a:t>YamlWorkflowLoader reads the YAML config, mapping it directly into immutable Java 21 Record classes for zero-overhead validation and parsing.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2103120"/>
            <a:ext cx="32918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2. Loop Execution</a:t>
            </a:r>
          </a:p>
          <a:p>
            <a:pPr>
              <a:spcBef>
                <a:spcPts val="1500"/>
              </a:spcBef>
              <a:defRPr sz="1300">
                <a:solidFill>
                  <a:srgbClr val="F8FAFC"/>
                </a:solidFill>
              </a:defRPr>
            </a:pPr>
            <a:r>
              <a:t>The workflow iterates through the parsed configuration list. Temporal ActivityOptions (timeouts, retries) are dynamically injected per step.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2103120"/>
            <a:ext cx="32918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3. Stack Rollbacks</a:t>
            </a:r>
          </a:p>
          <a:p>
            <a:pPr>
              <a:spcBef>
                <a:spcPts val="1500"/>
              </a:spcBef>
              <a:defRPr sz="1300">
                <a:solidFill>
                  <a:srgbClr val="F8FAFC"/>
                </a:solidFill>
              </a:defRPr>
            </a:pPr>
            <a:r>
              <a:t>Successful steps are pushed onto a LIFO stack. Upon any failure, the stack is popped, and compensation methods are dynamically executed.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Testing &amp; Resiliency Verification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Ensuring dynamic logic operates reliably in all runtime failure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51206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14B8A6"/>
                </a:solidFill>
              </a:defRPr>
            </a:pPr>
            <a:r>
              <a:t>IN-MEMORY TEST ENVIRONMENT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Isolated Tests: OrderFulfillmentWorkflowTest utilizes TestWorkflowEnvironment for virtual time testing.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Simulated Outages: Test doubles mock failures (e.g. CardDeclinedException, slow latency) to verify compensating rollbacks.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Fast Executions: Fast-forwards time automatically (5-minute timeouts resolved in milliseconds).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2103120"/>
            <a:ext cx="51206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LIVE INTEGRATION TESTS (IT)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Live Connection: OrderFulfillmentLiveWorkflowIT connects to a live running local Temporal instance.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Visual Auditing: Developer can physically inspect the step-by-step saga trace live inside the Temporal Web UI.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Production Readiness: Validates correct YAML deserialization against real gRPC server calls.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Business Outcomes &amp; Next Steps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Strategic advantages of declarative transaction orchestration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51206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14B8A6"/>
                </a:solidFill>
              </a:defRPr>
            </a:pPr>
            <a:r>
              <a:t>VALUE DELIVERED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Faster Time-to-Market: Business flows adjusted instantly via configuration changes.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Decreased Operational Overhead: Auto-recovery of partial transactions lowers customer support tickets.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Developer Velocity: Standardized, dynamic Saga logic removes boilerplate code from codebase.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2103120"/>
            <a:ext cx="51206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ROADMAP &amp; EVOLUTION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A/B Testing: Support loading different YAML profiles based on customer segments.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UI Configurator: Build a low-code canvas interface that generates the workflow-config.yml directly.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Observability dashboard: Extend Grafana panels to count step-level latency based on YAML config.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" name="Accent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731520" y="548640"/>
            <a:ext cx="10698480" cy="1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Event Sourcing: Immutable State as Facts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Every state change is a permanent, ordered event — never an overwrite</a:t>
            </a:r>
          </a:p>
        </p:txBody>
      </p:sp>
      <p:sp>
        <p:nvSpPr>
          <p:cNvPr id="3" name="Box 3"/>
          <p:cNvSpPr/>
          <p:nvPr/>
        </p:nvSpPr>
        <p:spPr>
          <a:xfrm>
            <a:off x="731520" y="1750000"/>
            <a:ext cx="3200000" cy="47000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lIns="180000" tIns="180000" rIns="180000" bIns="18000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What is Event Sourcing?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State is NEVER stored directly in a row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Every change raises an immutable DomainEvent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Current state = replay of all past events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13 sealed event types (Java 21):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OrderCreatedEvent, ItemAddedEvent,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OrderConfirmedEvent, PaymentCompletedEvent,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ShipmentCreatedEvent, OrderCancelledEvent…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Events stored as JSONB in append-only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event_store table (no UPDATE, no DELETE)</a:t>
            </a:r>
          </a:p>
        </p:txBody>
      </p:sp>
      <p:sp>
        <p:nvSpPr>
          <p:cNvPr id="4" name="Box 4"/>
          <p:cNvSpPr/>
          <p:nvPr/>
        </p:nvSpPr>
        <p:spPr>
          <a:xfrm>
            <a:off x="4113520" y="1750000"/>
            <a:ext cx="3200000" cy="47000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lIns="180000" tIns="180000" rIns="180000" bIns="18000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Aggregate Root: Order.java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Private fields — NO setters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command → validate → raise event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apply(DomainEvent) = ONLY mutation point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pendingEvents[] drained by repository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Optimistic lock: UNIQUE(aggregate_id, version)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DB constraint + app-level version check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Snapshot every 50 events: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restore snapshot → replay since snapshot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worst-case: 50 events replayed, ever</a:t>
            </a:r>
          </a:p>
        </p:txBody>
      </p:sp>
      <p:sp>
        <p:nvSpPr>
          <p:cNvPr id="5" name="Box 5"/>
          <p:cNvSpPr/>
          <p:nvPr/>
        </p:nvSpPr>
        <p:spPr>
          <a:xfrm>
            <a:off x="7495520" y="1750000"/>
            <a:ext cx="3200000" cy="47000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lIns="180000" tIns="180000" rIns="180000" bIns="18000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Why vs. Traditional CRUD?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CRUD overwrites — history is gone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Event Sourcing: full audit trail always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PaymentFailedEvent stores failure reason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InventoryReleasedEvent proves compensation ran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Debug any point-in-time by replaying to Tv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Build new read models from old events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Used alongside Temporal: Temporal manages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PROCESS state; Event Store manages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DOMAIN state — complementary, not overlapping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" name="Accent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731520" y="548640"/>
            <a:ext cx="10698480" cy="1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Hexagonal Architecture + CQRS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Domain has zero framework dependencies — all external concerns plug in through interfaces</a:t>
            </a:r>
          </a:p>
        </p:txBody>
      </p:sp>
      <p:sp>
        <p:nvSpPr>
          <p:cNvPr id="3" name="Box 3"/>
          <p:cNvSpPr/>
          <p:nvPr/>
        </p:nvSpPr>
        <p:spPr>
          <a:xfrm>
            <a:off x="731520" y="1750000"/>
            <a:ext cx="2350000" cy="47000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lIns="180000" tIns="180000" rIns="180000" bIns="180000">
            <a:spAutoFit/>
          </a:bodyPr>
          <a:lstStyle/>
          <a:p>
            <a:pPr>
              <a:defRPr sz="1400" b="1">
                <a:solidFill>
                  <a:srgbClr val="F87171"/>
                </a:solidFill>
                <a:latin typeface="Arial"/>
              </a:defRPr>
            </a:pPr>
            <a:r>
              <a:t>API Layer  →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OrderController (REST)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WorkflowController (signals/queries)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GlobalExceptionHandler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(RFC 7807 ProblemDetail)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Bean Validation (@Valid)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MapStruct DTOs (compile-time)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Swagger / OpenAPI 3.0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CorrelationIdFilter → MDC</a:t>
            </a:r>
          </a:p>
        </p:txBody>
      </p:sp>
      <p:sp>
        <p:nvSpPr>
          <p:cNvPr id="4" name="Box 4"/>
          <p:cNvSpPr/>
          <p:nvPr/>
        </p:nvSpPr>
        <p:spPr>
          <a:xfrm>
            <a:off x="3263520" y="1750000"/>
            <a:ext cx="2350000" cy="47000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lIns="180000" tIns="180000" rIns="180000" bIns="180000">
            <a:spAutoFit/>
          </a:bodyPr>
          <a:lstStyle/>
          <a:p>
            <a:pPr>
              <a:defRPr sz="1400" b="1">
                <a:solidFill>
                  <a:srgbClr val="86EFAC"/>
                </a:solidFill>
                <a:latin typeface="Arial"/>
              </a:defRPr>
            </a:pPr>
            <a:r>
              <a:t>Application Layer  →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OrderCommandService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@Transactional (all writes)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OrderQueryService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@Transactional(readOnly=true)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CQRS: commands return void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or new ID only — never state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Queries never accept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command objects</a:t>
            </a:r>
          </a:p>
        </p:txBody>
      </p:sp>
      <p:sp>
        <p:nvSpPr>
          <p:cNvPr id="5" name="Box 5"/>
          <p:cNvSpPr/>
          <p:nvPr/>
        </p:nvSpPr>
        <p:spPr>
          <a:xfrm>
            <a:off x="5795520" y="1750000"/>
            <a:ext cx="2350000" cy="47000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lIns="180000" tIns="180000" rIns="180000" bIns="180000">
            <a:spAutoFit/>
          </a:bodyPr>
          <a:lstStyle/>
          <a:p>
            <a:pPr>
              <a:defRPr sz="1400" b="1">
                <a:solidFill>
                  <a:srgbClr val="FDE68A"/>
                </a:solidFill>
                <a:latin typeface="Arial"/>
              </a:defRPr>
            </a:pPr>
            <a:r>
              <a:t>Domain Layer  ←  (core)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Order aggregate (zero Spring)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13 sealed DomainEvents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OrderId, CustomerId, Money,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OrderItem value objects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Outbound ports (interfaces):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EventStore, SnapshotStore,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OrderRepository, WorkflowPort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Domain exceptions</a:t>
            </a:r>
          </a:p>
        </p:txBody>
      </p:sp>
      <p:sp>
        <p:nvSpPr>
          <p:cNvPr id="6" name="Box 6"/>
          <p:cNvSpPr/>
          <p:nvPr/>
        </p:nvSpPr>
        <p:spPr>
          <a:xfrm>
            <a:off x="8327520" y="1750000"/>
            <a:ext cx="2250000" cy="47000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lIns="180000" tIns="180000" rIns="180000" bIns="180000">
            <a:spAutoFit/>
          </a:bodyPr>
          <a:lstStyle/>
          <a:p>
            <a:pPr>
              <a:defRPr sz="1400" b="1">
                <a:solidFill>
                  <a:srgbClr val="C4B5FD"/>
                </a:solidFill>
                <a:latin typeface="Arial"/>
              </a:defRPr>
            </a:pPr>
            <a:r>
              <a:t>Infrastructure Layer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EventStoreAdapter (JDBC)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SnapshotStoreAdapter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OrderRepositoryAdapter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WorkflowPortAdapter (Temporal)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InventoryActivityImpl (HTTP)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PaymentActivityImpl (HTTP)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ShippingActivityImpl (HTTP)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OrderEventKafkaPublisher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" name="Accent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731520" y="548640"/>
            <a:ext cx="10698480" cy="1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Full System Architecture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5 microservices · Kong API Gateway · Kafka event streaming · Temporal orchestration · 6 isolated databases</a:t>
            </a:r>
          </a:p>
        </p:txBody>
      </p:sp>
      <p:sp>
        <p:nvSpPr>
          <p:cNvPr id="3" name="Box 3"/>
          <p:cNvSpPr/>
          <p:nvPr/>
        </p:nvSpPr>
        <p:spPr>
          <a:xfrm>
            <a:off x="731520" y="1750000"/>
            <a:ext cx="1700000" cy="470000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 w="19050">
            <a:solidFill>
              <a:srgbClr val="334155"/>
            </a:solidFill>
          </a:ln>
        </p:spPr>
        <p:txBody>
          <a:bodyPr wrap="square" lIns="180000" tIns="180000" rIns="180000" bIns="180000">
            <a:spAutoFit/>
          </a:bodyPr>
          <a:lstStyle/>
          <a:p>
            <a:pPr>
              <a:defRPr sz="1400" b="1">
                <a:solidFill>
                  <a:srgbClr val="7DD3FC"/>
                </a:solidFill>
                <a:latin typeface="Arial"/>
              </a:defRPr>
            </a:pPr>
            <a:r>
              <a:t>Kong Gateway  :8000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Proxy entry point for all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client traffic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Rate limiting (100 req/min)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Proxy cache (GET 60s)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correlation-id plugin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prometheus /metrics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Routes: /orders/* /workflows/*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/inventory/* /payments/*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/shipping/*</a:t>
            </a:r>
          </a:p>
        </p:txBody>
      </p:sp>
      <p:sp>
        <p:nvSpPr>
          <p:cNvPr id="4" name="Box 4"/>
          <p:cNvSpPr/>
          <p:nvPr/>
        </p:nvSpPr>
        <p:spPr>
          <a:xfrm>
            <a:off x="2613520" y="1750000"/>
            <a:ext cx="2400000" cy="4700000"/>
          </a:xfrm>
          <a:prstGeom prst="roundRect">
            <a:avLst>
              <a:gd name="adj" fmla="val 16667"/>
            </a:avLst>
          </a:prstGeom>
          <a:solidFill>
            <a:srgbClr val="0D2B1E"/>
          </a:solidFill>
          <a:ln w="19050">
            <a:solidFill>
              <a:srgbClr val="334155"/>
            </a:solidFill>
          </a:ln>
        </p:spPr>
        <p:txBody>
          <a:bodyPr wrap="square" lIns="180000" tIns="180000" rIns="180000" bIns="180000">
            <a:spAutoFit/>
          </a:bodyPr>
          <a:lstStyle/>
          <a:p>
            <a:pPr>
              <a:defRPr sz="1400" b="1">
                <a:solidFill>
                  <a:srgbClr val="86EFAC"/>
                </a:solidFill>
                <a:latin typeface="Arial"/>
              </a:defRPr>
            </a:pPr>
            <a:r>
              <a:t>Microservices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📦 order-service   :8080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 REST + Temporal Worker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 Event Sourcing + CQRS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 Kafka producer (order.events)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🏭 inventory-service :8081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💳 payment-service   :8082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 InsufficientFunds (non-retry)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 CardDeclined (non-retry)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🚚 shipping-service  :8083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🔔 notification-svc  :8084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 Pure Kafka consumer</a:t>
            </a:r>
          </a:p>
        </p:txBody>
      </p:sp>
      <p:sp>
        <p:nvSpPr>
          <p:cNvPr id="5" name="Box 5"/>
          <p:cNvSpPr/>
          <p:nvPr/>
        </p:nvSpPr>
        <p:spPr>
          <a:xfrm>
            <a:off x="5195520" y="1750000"/>
            <a:ext cx="1800000" cy="4700000"/>
          </a:xfrm>
          <a:prstGeom prst="roundRect">
            <a:avLst>
              <a:gd name="adj" fmla="val 16667"/>
            </a:avLst>
          </a:prstGeom>
          <a:solidFill>
            <a:srgbClr val="1E0A3C"/>
          </a:solidFill>
          <a:ln w="19050">
            <a:solidFill>
              <a:srgbClr val="334155"/>
            </a:solidFill>
          </a:ln>
        </p:spPr>
        <p:txBody>
          <a:bodyPr wrap="square" lIns="180000" tIns="180000" rIns="180000" bIns="180000">
            <a:spAutoFit/>
          </a:bodyPr>
          <a:lstStyle/>
          <a:p>
            <a:pPr>
              <a:defRPr sz="1400" b="1">
                <a:solidFill>
                  <a:srgbClr val="D8B4FE"/>
                </a:solidFill>
                <a:latin typeface="Arial"/>
              </a:defRPr>
            </a:pPr>
            <a:r>
              <a:t>Kafka  :9092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Topics: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order.events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inventory.events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payment.events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shipping.events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notification.requests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Key = orderId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(ordered per partition)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Outbox Pattern: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DB commit → AFTER_COMMIT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→ Kafka publish</a:t>
            </a:r>
          </a:p>
        </p:txBody>
      </p:sp>
      <p:sp>
        <p:nvSpPr>
          <p:cNvPr id="6" name="Box 6"/>
          <p:cNvSpPr/>
          <p:nvPr/>
        </p:nvSpPr>
        <p:spPr>
          <a:xfrm>
            <a:off x="7177520" y="1750000"/>
            <a:ext cx="1700000" cy="4700000"/>
          </a:xfrm>
          <a:prstGeom prst="roundRect">
            <a:avLst>
              <a:gd name="adj" fmla="val 16667"/>
            </a:avLst>
          </a:prstGeom>
          <a:solidFill>
            <a:srgbClr val="1C1000"/>
          </a:solidFill>
          <a:ln w="19050">
            <a:solidFill>
              <a:srgbClr val="334155"/>
            </a:solidFill>
          </a:ln>
        </p:spPr>
        <p:txBody>
          <a:bodyPr wrap="square" lIns="180000" tIns="180000" rIns="180000" bIns="180000">
            <a:spAutoFit/>
          </a:bodyPr>
          <a:lstStyle/>
          <a:p>
            <a:pPr>
              <a:defRPr sz="1400" b="1">
                <a:solidFill>
                  <a:srgbClr val="FED7AA"/>
                </a:solidFill>
                <a:latin typeface="Arial"/>
              </a:defRPr>
            </a:pPr>
            <a:r>
              <a:t>Temporal  :7233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gRPC endpoint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Workflow history DB :5433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Temporal UI :8088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/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Worker polls task queue: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ORDER_FULFILLMENT_QUEUE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/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Signals: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cancelOrder(reason)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retryPayment()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Queries: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getCurrentStatus()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getProgress()</a:t>
            </a:r>
          </a:p>
        </p:txBody>
      </p:sp>
      <p:sp>
        <p:nvSpPr>
          <p:cNvPr id="7" name="Box 7"/>
          <p:cNvSpPr/>
          <p:nvPr/>
        </p:nvSpPr>
        <p:spPr>
          <a:xfrm>
            <a:off x="9059520" y="1750000"/>
            <a:ext cx="1700000" cy="4700000"/>
          </a:xfrm>
          <a:prstGeom prst="roundRect">
            <a:avLst>
              <a:gd name="adj" fmla="val 16667"/>
            </a:avLst>
          </a:prstGeom>
          <a:solidFill>
            <a:srgbClr val="0C2340"/>
          </a:solidFill>
          <a:ln w="19050">
            <a:solidFill>
              <a:srgbClr val="334155"/>
            </a:solidFill>
          </a:ln>
        </p:spPr>
        <p:txBody>
          <a:bodyPr wrap="square" lIns="180000" tIns="180000" rIns="180000" bIns="180000">
            <a:spAutoFit/>
          </a:bodyPr>
          <a:lstStyle/>
          <a:p>
            <a:pPr>
              <a:defRPr sz="1400" b="1">
                <a:solidFill>
                  <a:srgbClr val="7DD3FC"/>
                </a:solidFill>
                <a:latin typeface="Arial"/>
              </a:defRPr>
            </a:pPr>
            <a:r>
              <a:t>Databases (isolated)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orderdb      :5432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event_store (JSONB)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order_snapshots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/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inventorydb  :5434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reservations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/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paymentdb    :5435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transactions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/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shippingdb   :5436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  shipments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/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temporal-pg  :5433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kong-pg      :5440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